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097280"/>
            <a:ext cx="5669280" cy="4206240"/>
          </a:xfrm>
          <a:prstGeom prst="roundRect">
            <a:avLst>
              <a:gd name="adj" fmla="val 30435"/>
            </a:avLst>
          </a:prstGeom>
          <a:solidFill>
            <a:srgbClr val="11406C">
              <a:alpha val="7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731520"/>
            <a:ext cx="5303520" cy="3840480"/>
          </a:xfrm>
          <a:prstGeom prst="roundRect">
            <a:avLst>
              <a:gd name="adj" fmla="val 26190"/>
            </a:avLst>
          </a:prstGeom>
          <a:solidFill>
            <a:srgbClr val="0EA5A4">
              <a:alpha val="65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836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Mozaika Studio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Расширенная презентация функционала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08192" y="585216"/>
            <a:ext cx="5504688" cy="384048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08192" y="585216"/>
            <a:ext cx="550468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676656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18504" y="676656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676656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11112" y="667512"/>
            <a:ext cx="4864608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4264" y="672084"/>
            <a:ext cx="4681728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https://mozaika.local/studio</a:t>
            </a:r>
            <a:endParaRPr lang="en-US" sz="800" dirty="0"/>
          </a:p>
        </p:txBody>
      </p:sp>
      <p:pic>
        <p:nvPicPr>
          <p:cNvPr id="13" name="Image 0" descr="C:\Users\mikedell\Mozaika\presentation\assets\ui\04-generated-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905256"/>
            <a:ext cx="5468112" cy="3502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08192" y="4462272"/>
            <a:ext cx="5504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Живой экран генерации мозаики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2148840"/>
            <a:ext cx="269748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240280"/>
            <a:ext cx="2478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Всего чипов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" y="2441448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F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21 528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3401568" y="2148840"/>
            <a:ext cx="269748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11296" y="2240280"/>
            <a:ext cx="2478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Цветов в версии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11296" y="2441448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F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66928" y="3200400"/>
            <a:ext cx="553212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291840"/>
            <a:ext cx="5312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текущей конфигурации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6656" y="3493008"/>
            <a:ext cx="5312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F3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38 514 ₽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66928" y="433425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Демо-прогон: 25.02.2026, 13:38:53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Карта функционала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именно система умеет на текущем этапе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2971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Авторизация и роли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554480"/>
            <a:ext cx="2971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Генерация мозаики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1554480"/>
            <a:ext cx="2971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Палитра и ручные правки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926080"/>
            <a:ext cx="2971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Ценообразование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2926080"/>
            <a:ext cx="2971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Проекты и версии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26680" y="2926080"/>
            <a:ext cx="2971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Экспорт и производство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20240" y="4892040"/>
            <a:ext cx="8321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0240" y="4892040"/>
            <a:ext cx="83210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9968" y="498348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0552" y="498348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31136" y="498348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23160" y="4974336"/>
            <a:ext cx="768096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96312" y="4978908"/>
            <a:ext cx="7498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https://mozaika.local/studio</a:t>
            </a:r>
            <a:endParaRPr lang="en-US" sz="800" dirty="0"/>
          </a:p>
        </p:txBody>
      </p:sp>
      <p:pic>
        <p:nvPicPr>
          <p:cNvPr id="25" name="Image 0" descr="C:\Users\mikedell\Mozaika\presentation\assets\ui\02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38528" y="5212080"/>
            <a:ext cx="8284464" cy="1399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920240" y="666597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Главный экран после авторизации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 Авторизация и роли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 разделен по бизнес-ролям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53212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55321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173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417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41732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408176"/>
            <a:ext cx="489204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412748"/>
            <a:ext cx="47091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</a:t>
            </a:r>
            <a:endParaRPr lang="en-US" sz="800" dirty="0"/>
          </a:p>
        </p:txBody>
      </p:sp>
      <p:pic>
        <p:nvPicPr>
          <p:cNvPr id="13" name="Image 0" descr="C:\Users\mikedell\Mozaika\presentation\assets\ui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45920"/>
            <a:ext cx="5495544" cy="40965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5797296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Экран входа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325880"/>
            <a:ext cx="50292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93408" y="1572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Права доступа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93408" y="19842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21424" y="1920240"/>
            <a:ext cx="4398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Админ: полный доступ к палитре, проектам, настройкам.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93408" y="23134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21424" y="2249424"/>
            <a:ext cx="4398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Заказчик: генерация, ручные правки, проекты, экспорт.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93408" y="264261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21424" y="2578608"/>
            <a:ext cx="4398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Просмотр: только чтение без изменения данных.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93408" y="297180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21424" y="2907792"/>
            <a:ext cx="4398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Сохранение и предзаказ доступны после входа.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93408" y="3977640"/>
            <a:ext cx="4526280" cy="105156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2700">
            <a:solidFill>
              <a:srgbClr val="CFE8F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12864" y="417880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Демо-аккаунты: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admin/admin123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customer/customer123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viewer/viewer123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2) Подготовка генерации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Рабочее поле в мм, чип, шов, ограничение цветов и смещение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498080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498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173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417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41732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408176"/>
            <a:ext cx="685800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412748"/>
            <a:ext cx="66751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https://mozaika.local/studio</a:t>
            </a:r>
            <a:endParaRPr lang="en-US" sz="800" dirty="0"/>
          </a:p>
        </p:txBody>
      </p:sp>
      <p:pic>
        <p:nvPicPr>
          <p:cNvPr id="13" name="Image 0" descr="C:\Users\mikedell\Mozaika\presentation\assets\ui\03-studio-sour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45920"/>
            <a:ext cx="7461504" cy="45994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6300216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Вкладка «Генерация»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66760" y="1325880"/>
            <a:ext cx="3154680" cy="49377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157276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Ключевые параметры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49640" y="193852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77656" y="1874520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Ширина/высота поля (мм).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49640" y="232257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77656" y="2258568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Размер чипа (10x10 мм).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549640" y="270662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77656" y="2642616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Ширина шва (по умолчанию 2 мм).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549640" y="309067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77656" y="3026664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Максимум используемых цветов.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549640" y="347472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77656" y="3410712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 затирки.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549640" y="385876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77656" y="3794760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Смещение мозаики X/Y (плавно).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3) Генерация результата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расчета сразу доступны превью, легенда и метрики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132320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132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173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417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41732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408176"/>
            <a:ext cx="649224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412748"/>
            <a:ext cx="63093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https://mozaika.local/studio</a:t>
            </a:r>
            <a:endParaRPr lang="en-US" sz="800" dirty="0"/>
          </a:p>
        </p:txBody>
      </p:sp>
      <p:pic>
        <p:nvPicPr>
          <p:cNvPr id="13" name="Image 0" descr="C:\Users\mikedell\Mozaika\presentation\assets\ui\04-generated-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45920"/>
            <a:ext cx="7095744" cy="45994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6300216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Сгенерированная мозаика в рабочей зоне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46720" y="1508760"/>
            <a:ext cx="3429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56448" y="1600200"/>
            <a:ext cx="3209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Сетка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156448" y="1801368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184 x 117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046720" y="2514600"/>
            <a:ext cx="3429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56448" y="2606040"/>
            <a:ext cx="3209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Всего чипов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156448" y="2807208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4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21 528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8046720" y="3520440"/>
            <a:ext cx="3429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56448" y="3611880"/>
            <a:ext cx="3209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Использовано цветов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56448" y="3813048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87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8046720" y="4526280"/>
            <a:ext cx="34290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56448" y="4617720"/>
            <a:ext cx="3209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56448" y="4818888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7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38 514 ₽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4) Палитра и ручные правки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Автоматика + ручной контроль цвета по всей мозаике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486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Автоматические механики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9842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920240"/>
            <a:ext cx="4855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Первая генерация использует все нужные цвета из палитры.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313432"/>
            <a:ext cx="4855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Параметр «Макс. цветов» сокращает палитру автоматически.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706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706624"/>
            <a:ext cx="4855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Можно исключить конкретные цвета и пересчитать результат.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16382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099816"/>
            <a:ext cx="4855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чип получает один цвет из базы доступных оттенков.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325880"/>
            <a:ext cx="516636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Ручные механики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01968" y="19842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920240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Замена цвета A -&gt; B применяется ко всей мозаике сразу.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01968" y="237744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2313432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Смена цвета затирки после генерации.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01968" y="27706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706624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Zoom/Pan для проверки мелких деталей.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01968" y="316382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3099816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Смещение изображения внутри поля с обрезкой по зоне.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5) Цена и экономика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Стоимость меняется в реальном времени при изменении цветов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22376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заказчик управляет бюджетом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9842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920240"/>
            <a:ext cx="6684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Уменьшает количество цветов - цена снижается.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8658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322576"/>
            <a:ext cx="6684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Сразу видит визуальный компромисс по детализации.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724912"/>
            <a:ext cx="6684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Сравнивает версии и выбирает оптимальную.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19125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127248"/>
            <a:ext cx="6684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Фиксирует нужную версию в проекте.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2976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Чипов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4498848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4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21 528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154680" y="42062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429768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Цветов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4498848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87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394960" y="420624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4297680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Текущая цена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04688" y="4498848"/>
            <a:ext cx="2066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79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38 514 ₽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38160" y="1325880"/>
            <a:ext cx="3383280" cy="49834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6002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Топ-цвета (пример)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66760" y="19842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 w="12700">
            <a:solidFill>
              <a:srgbClr val="B9C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19659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88168" y="196596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10 793 чипов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88168" y="214884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6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50.13%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26060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8E98A3"/>
          </a:solidFill>
          <a:ln w="12700">
            <a:solidFill>
              <a:srgbClr val="B9C6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13648" y="2587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88168" y="258775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8 460 чипов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488168" y="2770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6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39.30%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66760" y="322783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CA36A"/>
          </a:solidFill>
          <a:ln w="12700">
            <a:solidFill>
              <a:srgbClr val="B9C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13648" y="320954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488168" y="320954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1 634 чипов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88168" y="33924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6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7.59%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66760" y="38496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B9C6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13648" y="383133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488168" y="383133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369 чипов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488168" y="401421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6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1.71%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66760" y="44714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1121F"/>
          </a:solidFill>
          <a:ln w="12700">
            <a:solidFill>
              <a:srgbClr val="B9C6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13648" y="44531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488168" y="445312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139 чипов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488168" y="463600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6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0.65%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6) Превью и контроль качества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Масштабирование и навигация перед выгрузкой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635240" cy="4983480"/>
          </a:xfrm>
          <a:prstGeom prst="roundRect">
            <a:avLst>
              <a:gd name="adj" fmla="val 917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6352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173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417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41732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408176"/>
            <a:ext cx="699516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412748"/>
            <a:ext cx="6812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https://mozaika.local/studio</a:t>
            </a:r>
            <a:endParaRPr lang="en-US" sz="800" dirty="0"/>
          </a:p>
        </p:txBody>
      </p:sp>
      <p:pic>
        <p:nvPicPr>
          <p:cNvPr id="13" name="Image 0" descr="C:\Users\mikedell\Mozaika\presentation\assets\ui\04-generated-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45920"/>
            <a:ext cx="7598664" cy="4645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6345936"/>
            <a:ext cx="7635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Zoom/Pan и визуальная проверка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49640" y="1325880"/>
            <a:ext cx="2971800" cy="498348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9952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проверяем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759952" y="19842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87968" y="1920240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Сохранение пропорций исходника.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59952" y="237744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87968" y="2313432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Ровные квадратные чипы.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759952" y="27706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87968" y="2706624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Артефакты после сокращения цветов.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759952" y="316382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87968" y="3099816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Читаемость контуров ключевых объектов.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759952" y="355701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87968" y="349300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Готовность версии к согласованию.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7) Проекты и история версий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Любую итерацию можно сохранить и восстановить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498080" cy="4983480"/>
          </a:xfrm>
          <a:prstGeom prst="roundRect">
            <a:avLst>
              <a:gd name="adj" fmla="val 917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498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173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417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41732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408176"/>
            <a:ext cx="685800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412748"/>
            <a:ext cx="66751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https://mozaika.local/projects</a:t>
            </a:r>
            <a:endParaRPr lang="en-US" sz="800" dirty="0"/>
          </a:p>
        </p:txBody>
      </p:sp>
      <p:pic>
        <p:nvPicPr>
          <p:cNvPr id="13" name="Image 0" descr="C:\Users\mikedell\Mozaika\presentation\assets\ui\06-proje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45920"/>
            <a:ext cx="7461504" cy="4645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6345936"/>
            <a:ext cx="7498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Раздел «Проекты»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66760" y="1325880"/>
            <a:ext cx="3154680" cy="49834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67928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хранится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567928" y="19842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95944" y="192024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Название и описание проекта.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67928" y="237744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95944" y="231343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История генераций и версии.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567928" y="27706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95944" y="270662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Активная версия для продолжения.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567928" y="316382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95944" y="309981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Shared-ссылки и предзаказы.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8) Шаринг и предварительный заказ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согласования макета к рабочему бизнес-процессу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09728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1168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8FC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139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2359152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Сохраняем подходящую версию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98648" y="2670048"/>
            <a:ext cx="182880" cy="0"/>
          </a:xfrm>
          <a:prstGeom prst="line">
            <a:avLst/>
          </a:prstGeom>
          <a:noFill/>
          <a:ln w="12700">
            <a:solidFill>
              <a:srgbClr val="9BB7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01168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2139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18688" y="2359152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Создаем shared-ссылку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56048" y="2670048"/>
            <a:ext cx="182880" cy="0"/>
          </a:xfrm>
          <a:prstGeom prst="line">
            <a:avLst/>
          </a:prstGeom>
          <a:noFill/>
          <a:ln w="12700">
            <a:solidFill>
              <a:srgbClr val="9BB7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01168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8FC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2139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76088" y="2359152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Отправляем предзаказ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13448" y="2670048"/>
            <a:ext cx="182880" cy="0"/>
          </a:xfrm>
          <a:prstGeom prst="line">
            <a:avLst/>
          </a:prstGeom>
          <a:noFill/>
          <a:ln w="12700">
            <a:solidFill>
              <a:srgbClr val="9BB7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01168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488" y="2139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33488" y="2359152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Меняем статус заказа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70848" y="2670048"/>
            <a:ext cx="182880" cy="0"/>
          </a:xfrm>
          <a:prstGeom prst="line">
            <a:avLst/>
          </a:prstGeom>
          <a:noFill/>
          <a:ln w="12700">
            <a:solidFill>
              <a:srgbClr val="9BB7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201168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8FCFF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90888" y="21396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90888" y="2359152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Готовим выгрузку в производство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" y="413308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" y="4069080"/>
            <a:ext cx="10250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Заказчик получает ссылку и результат без технических сложностей.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" y="453542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3856" y="4471416"/>
            <a:ext cx="10250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Менеджер фиксирует статусы и комментарии по согласованию.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" y="493776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33856" y="4873752"/>
            <a:ext cx="10250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подтверждения используется та же версия для экспорта.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9) Управление палитрой и RAL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Цвета чипов и затирки ведутся централизованно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635240" cy="4983480"/>
          </a:xfrm>
          <a:prstGeom prst="roundRect">
            <a:avLst>
              <a:gd name="adj" fmla="val 917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63524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173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417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41732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408176"/>
            <a:ext cx="699516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412748"/>
            <a:ext cx="6812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https://mozaika.local/palette</a:t>
            </a:r>
            <a:endParaRPr lang="en-US" sz="800" dirty="0"/>
          </a:p>
        </p:txBody>
      </p:sp>
      <p:pic>
        <p:nvPicPr>
          <p:cNvPr id="13" name="Image 0" descr="C:\Users\mikedell\Mozaika\presentation\assets\ui\07-palet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45920"/>
            <a:ext cx="7598664" cy="4645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6345936"/>
            <a:ext cx="7635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Раздел «Палитра»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49640" y="1325880"/>
            <a:ext cx="2971800" cy="498348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9952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Админ-функции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759952" y="198424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87968" y="1920240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Добавление цвета: название, RAL, HEX.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59952" y="237744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87968" y="2313432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Пакетный импорт палитры.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759952" y="27706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87968" y="2706624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Отдельная палитра затирки.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759952" y="316382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87968" y="3099816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Деактивация устаревших оттенков.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759952" y="355701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87968" y="349300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Единая база цветов для проектов.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10) Экспорт и печать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Клиентские и производственные форматы в один клик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269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2694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173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417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41732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408176"/>
            <a:ext cx="662940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412748"/>
            <a:ext cx="64465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https://mozaika.local/studio</a:t>
            </a:r>
            <a:endParaRPr lang="en-US" sz="800" dirty="0"/>
          </a:p>
        </p:txBody>
      </p:sp>
      <p:pic>
        <p:nvPicPr>
          <p:cNvPr id="13" name="Image 0" descr="C:\Users\mikedell\Mozaika\presentation\assets\ui\05-export-bl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645920"/>
            <a:ext cx="7232904" cy="29535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4654296"/>
            <a:ext cx="7269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Блок «Экспорт и печать»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83880" y="1325880"/>
            <a:ext cx="333756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83880" y="1325880"/>
            <a:ext cx="333756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3608" y="14173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94192" y="14173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94776" y="141732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86800" y="1408176"/>
            <a:ext cx="269748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59952" y="1412748"/>
            <a:ext cx="2514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export://mosaic-preview.png</a:t>
            </a:r>
            <a:endParaRPr lang="en-US" sz="800" dirty="0"/>
          </a:p>
        </p:txBody>
      </p:sp>
      <p:pic>
        <p:nvPicPr>
          <p:cNvPr id="22" name="Image 1" descr="C:\Users\mikedell\Mozaika\docs\customer-presentation\assets\mosaic-pre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2168" y="1645920"/>
            <a:ext cx="3300984" cy="29535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183880" y="465429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Пример результата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85800" y="4800600"/>
            <a:ext cx="10835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14400" y="504748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42416" y="498348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 / JPEG / SVG / PDF: согласование визуала.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14400" y="536752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42416" y="530352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materials.csv: ведомость материалов (цвет -&gt; количество).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914400" y="568756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42416" y="562356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grid.csv: координаты ряд/колонка для сборки.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914400" y="600760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42416" y="594360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modules.csv + assembly-kit.pdf: поквадратная раскладка.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3047695" cy="384048"/>
          </a:xfrm>
          <a:prstGeom prst="rect">
            <a:avLst/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11) Производственный комплект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получает заказчик и что уходит в цех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347472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63040"/>
            <a:ext cx="34747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55448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55448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55448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545336"/>
            <a:ext cx="283464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1549908"/>
            <a:ext cx="2651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input://source-demo.png</a:t>
            </a:r>
            <a:endParaRPr lang="en-US" sz="800" dirty="0"/>
          </a:p>
        </p:txBody>
      </p:sp>
      <p:pic>
        <p:nvPicPr>
          <p:cNvPr id="13" name="Image 0" descr="C:\Users\mikedell\Mozaika\docs\customer-presentation\assets\source-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1783080"/>
            <a:ext cx="3438144" cy="23134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41513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Исходное изображение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43400" y="1463040"/>
            <a:ext cx="347472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  <a:effectLst>
            <a:outerShdw sx="100000" sy="100000" kx="0" ky="0" algn="bl" rotWithShape="0" blurRad="50800" dist="50800" dir="2700000">
              <a:srgbClr val="B4C4D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43400" y="1463040"/>
            <a:ext cx="34747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53128" y="155448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53712" y="155448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4296" y="155448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1545336"/>
            <a:ext cx="283464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9472" y="1549908"/>
            <a:ext cx="2651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4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output://mosaic-preview.png</a:t>
            </a:r>
            <a:endParaRPr lang="en-US" sz="800" dirty="0"/>
          </a:p>
        </p:txBody>
      </p:sp>
      <p:pic>
        <p:nvPicPr>
          <p:cNvPr id="22" name="Image 1" descr="C:\Users\mikedell\Mozaika\docs\customer-presentation\assets\mosaic-pre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61688" y="1783080"/>
            <a:ext cx="3438144" cy="23134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343400" y="41513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Сгенерированная мозаика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001000" y="146304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47888" y="17007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цеха и монтажников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247888" y="207568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75904" y="2011680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Нумерация модулей.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247888" y="240487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375904" y="2340864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Координатная раскладка.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247888" y="273405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75904" y="267004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Легенда цветов.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247888" y="306324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75904" y="299923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Зеркальный режим печати.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85800" y="4343400"/>
            <a:ext cx="108356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14400" y="4553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 по ТЗ v1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914400" y="489204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42416" y="4828032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Сценарий «загрузил -&gt; сгенерировал -&gt; оптимизировал -&gt; сохранил -&gt; выгрузил» реализован.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914400" y="523951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42416" y="5175504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Роли, история генераций, shared-ссылки и предзаказы включены.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14400" y="5586984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42416" y="5522976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Ключевые форматы выгрузки для согласования и производства доступны.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914400" y="593445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042416" y="5870448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A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готова к расширению (новые размеры чипа, параметры модулей).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457200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12064" y="9418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Система готова к демонстрациям и пилотным заказам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972800" cy="3566160"/>
          </a:xfrm>
          <a:prstGeom prst="roundRect">
            <a:avLst>
              <a:gd name="adj" fmla="val 2051"/>
            </a:avLst>
          </a:prstGeom>
          <a:solidFill>
            <a:srgbClr val="0F1B33">
              <a:alpha val="92000"/>
            </a:srgbClr>
          </a:solidFill>
          <a:ln w="12700">
            <a:solidFill>
              <a:srgbClr val="2940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55648"/>
            <a:ext cx="73152" cy="7315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69164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Понятный браузерный интерфейс для заказчика и менеджера.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2167128"/>
            <a:ext cx="73152" cy="7315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10312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Наглядная проверка результата до старта производства.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578608"/>
            <a:ext cx="73152" cy="7315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51460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Прямое управление балансом «детализация / цена».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2990088"/>
            <a:ext cx="73152" cy="7315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92608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Готовые производственные выгрузки без ручной подготовки.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3401568"/>
            <a:ext cx="73152" cy="7315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337560"/>
            <a:ext cx="10296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База проектов, версий и ролей для коммерческой эксплуатации.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166360"/>
            <a:ext cx="10972800" cy="1005840"/>
          </a:xfrm>
          <a:prstGeom prst="roundRect">
            <a:avLst>
              <a:gd name="adj" fmla="val 5455"/>
            </a:avLst>
          </a:prstGeom>
          <a:solidFill>
            <a:srgbClr val="10374C"/>
          </a:solidFill>
          <a:ln w="12700">
            <a:solidFill>
              <a:srgbClr val="2A59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68112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FE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Следующий шаг: живое демо и фиксация финальных производственных параметров.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Mozaika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Mozaika Studio - функциональная презентация</dc:title>
  <dc:subject>Расширенная презентация функционала</dc:subject>
  <dc:creator>Mozaika Team</dc:creator>
  <cp:lastModifiedBy>Mozaika Team</cp:lastModifiedBy>
  <cp:revision>1</cp:revision>
  <dcterms:created xsi:type="dcterms:W3CDTF">2026-02-25T05:38:53Z</dcterms:created>
  <dcterms:modified xsi:type="dcterms:W3CDTF">2026-02-25T05:38:53Z</dcterms:modified>
</cp:coreProperties>
</file>